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19"/>
    <p:restoredTop sz="94660"/>
  </p:normalViewPr>
  <p:slideViewPr>
    <p:cSldViewPr snapToGrid="0">
      <p:cViewPr varScale="1">
        <p:scale>
          <a:sx n="114" d="100"/>
          <a:sy n="114" d="100"/>
        </p:scale>
        <p:origin x="200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CAB9C-482C-36DE-4E48-6F0172DC7F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7C102C-A4F3-1621-B57B-7E884A6792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718AC-25FF-C48C-B77C-369E86DAF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00E6D-1576-F246-9B8E-73E257F829AD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C55AD-8755-7BE4-9804-6AA39924E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CFE1F-FEBC-185E-D6E2-1AF9D9242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0DD44-AF69-C041-925E-A1CD767DA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38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74336-9B12-B547-644B-81AD424E7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FECC7-0929-84F9-3B4E-F44DAB1FE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C6FFE-5B0E-DD49-86C8-64A3D60A6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00E6D-1576-F246-9B8E-73E257F829AD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1E0E5-D7D6-168C-88D2-FB91C4024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8E2DD-BE6F-8F77-6403-D612AEE0F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0DD44-AF69-C041-925E-A1CD767DA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219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74A74-0E76-BB2A-DBEC-4E244F6D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E6679-5CFF-8F34-8E4E-AA37A488A4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FE982-B87F-7002-B0B5-7610740CA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00E6D-1576-F246-9B8E-73E257F829AD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A50E2-D677-F958-109A-8F04798FE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6EA8E-AE9C-AB09-5B1F-90CEF103F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0DD44-AF69-C041-925E-A1CD767DA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650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AE659-C7CC-5BF2-DD8B-F3D30D302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C1214-5238-FC73-F56E-E029ABA911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011E1F-0466-82A7-8F6A-D4F812ED1F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104648-DB10-C209-C73E-725F6F45F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00E6D-1576-F246-9B8E-73E257F829AD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949075-7E0A-0206-9B1D-90290BAC7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49BABA-8162-A3D9-5A01-4E1FB092A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0DD44-AF69-C041-925E-A1CD767DA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658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F5230-574E-053C-6EE5-7A86D493F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B247D-9731-892C-67CB-CFF74A253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599DD-8994-C48B-EE1C-8229E87B68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16ABC7-C121-FD06-6E74-30DF8CBED0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A557-4A39-D096-F253-701B6B54B8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FE2D18-F95E-E55C-B522-486F912C7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00E6D-1576-F246-9B8E-73E257F829AD}" type="datetimeFigureOut">
              <a:rPr lang="en-US" smtClean="0"/>
              <a:t>12/3/25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DCAB2D-5E24-939C-994A-3D9A9FCC2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B7E645-C929-77E2-9E82-579021B3C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0DD44-AF69-C041-925E-A1CD767DA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907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BFE50-5370-F53A-7640-6D3066386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73AC0B-E231-33EE-FCE6-0DB9CE597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00E6D-1576-F246-9B8E-73E257F829AD}" type="datetimeFigureOut">
              <a:rPr lang="en-US" smtClean="0"/>
              <a:t>12/3/25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19411A-072C-5771-F991-E837626D1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BF96C6-F227-499C-67AA-E659BE735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0DD44-AF69-C041-925E-A1CD767DA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43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52581A-7EE5-00A2-6F02-C8F7AC66C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00E6D-1576-F246-9B8E-73E257F829AD}" type="datetimeFigureOut">
              <a:rPr lang="en-US" smtClean="0"/>
              <a:t>12/3/25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A2B575-F956-1FDC-BB15-09B4442DC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0296F-BDB0-30B4-0C5B-0D2BF6D4C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0DD44-AF69-C041-925E-A1CD767DA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035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9B26D-603A-E591-E1B4-D2A874DD6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7B83B-35DB-9C73-6DFB-DF7F3198B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C6A0D-5C02-4133-54B0-86E897FDF8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8B1D3C-B3A5-9724-65DF-347F228CF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00E6D-1576-F246-9B8E-73E257F829AD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B07931-272B-13E1-8F4C-F0CE46479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90AC1C-8314-35A0-2316-CD2C4B99A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0DD44-AF69-C041-925E-A1CD767DA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763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8BBCE-8862-CE15-710F-177B20EFF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E84C4F-A95C-C172-4764-BDFFFEEF0A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B953D0-1EFA-1E0C-E831-9A79D38CA9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95D228-F2AF-02E8-1C9D-2DEF61B45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00E6D-1576-F246-9B8E-73E257F829AD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121717-551A-6C90-6CDC-87AD3AAA9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6788FE-FC87-F71D-BBA5-5202A60FB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0DD44-AF69-C041-925E-A1CD767DA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48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04591-71BE-E20F-E405-01213DBAD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325E56-42BC-704A-3A90-AAB17139B1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1BC18-2AC7-4A3C-DFF1-C790DB85E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00E6D-1576-F246-9B8E-73E257F829AD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4E89D-A15A-7E23-37B3-7D0EE807E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5A58F-CF0A-1102-C8A8-D49E941B7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0DD44-AF69-C041-925E-A1CD767DA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399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7DBE97-2B1F-BED9-4E8C-7A11E94A62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1BC9C8-2141-0D8D-461D-6AEE8BD3C1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DC6B9-5B13-AD95-5031-99F8104F6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00E6D-1576-F246-9B8E-73E257F829AD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893E0-E238-3ADB-B3B8-48CD8303E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640F7-033F-F2AD-EA72-F989E0299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0DD44-AF69-C041-925E-A1CD767DA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740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3D4C61-92C0-DFC8-EB2F-BB984FD27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BD0E5-05AC-364C-A715-8714112AB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C6389-78D7-C442-E547-75C74EA7C0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A00E6D-1576-F246-9B8E-73E257F829AD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DEE610-E6AF-4DA2-489B-306533D24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84018-6111-6F9D-C265-AEA8020A25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50DD44-AF69-C041-925E-A1CD767DA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698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localhost:8080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medium.com/@esrasoylu/creating-a-cnn-model-for-image-classification-with-tensorflow-49b84be8c12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B7DAC5-F7CC-3A9B-DB24-C8346A1D22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0337" y="640080"/>
            <a:ext cx="4201208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5400" dirty="0">
                <a:latin typeface="Georgia" panose="02040502050405020303" pitchFamily="18" charset="0"/>
                <a:ea typeface="Noteworthy Light" panose="02000400000000000000" pitchFamily="2" charset="77"/>
              </a:rPr>
              <a:t>Predicting Handwritten Math Symbols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6B19AB-6A9B-9A16-20FD-3FC6D1E01C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0339" y="4636008"/>
            <a:ext cx="3734014" cy="1572768"/>
          </a:xfrm>
        </p:spPr>
        <p:txBody>
          <a:bodyPr>
            <a:normAutofit/>
          </a:bodyPr>
          <a:lstStyle/>
          <a:p>
            <a:pPr algn="l"/>
            <a:endParaRPr lang="en-US" dirty="0"/>
          </a:p>
          <a:p>
            <a:pPr algn="l"/>
            <a:r>
              <a:rPr lang="en-US" dirty="0">
                <a:latin typeface="Georgia" panose="02040502050405020303" pitchFamily="18" charset="0"/>
                <a:ea typeface="Noteworthy Light" panose="02000400000000000000" pitchFamily="2" charset="77"/>
              </a:rPr>
              <a:t>Tiffany Boswell</a:t>
            </a:r>
          </a:p>
        </p:txBody>
      </p:sp>
      <p:sp>
        <p:nvSpPr>
          <p:cNvPr id="2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omplex math formulas on a blackboard">
            <a:extLst>
              <a:ext uri="{FF2B5EF4-FFF2-40B4-BE49-F238E27FC236}">
                <a16:creationId xmlns:a16="http://schemas.microsoft.com/office/drawing/2014/main" id="{D4086900-BA8C-6109-1A6A-27330BE5FE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90" r="13388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49124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E7FBE1-8221-8C15-5520-369F11447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 dirty="0">
                <a:latin typeface="Georgia" panose="02040502050405020303" pitchFamily="18" charset="0"/>
              </a:rPr>
              <a:t>Dataset</a:t>
            </a:r>
          </a:p>
        </p:txBody>
      </p:sp>
      <p:sp>
        <p:nvSpPr>
          <p:cNvPr id="28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7A563-3370-503A-9C42-C6DE2DD73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200">
                <a:latin typeface="Georgia" panose="02040502050405020303" pitchFamily="18" charset="0"/>
                <a:ea typeface="Noteworthy Light" panose="02000400000000000000" pitchFamily="2" charset="77"/>
              </a:rPr>
              <a:t>Consists of 100s of pictures of handwritten math symbols</a:t>
            </a:r>
          </a:p>
          <a:p>
            <a:r>
              <a:rPr lang="en-US" sz="2200">
                <a:latin typeface="Georgia" panose="02040502050405020303" pitchFamily="18" charset="0"/>
                <a:ea typeface="Noteworthy Light" panose="02000400000000000000" pitchFamily="2" charset="77"/>
              </a:rPr>
              <a:t>Classes are 0-9, add, div, dec, eq, mul, sub, x, y, z</a:t>
            </a:r>
          </a:p>
          <a:p>
            <a:endParaRPr lang="en-US" sz="2200" dirty="0"/>
          </a:p>
        </p:txBody>
      </p:sp>
      <p:pic>
        <p:nvPicPr>
          <p:cNvPr id="5" name="Picture 4" descr="A grid of numbers and symbols&#10;&#10;AI-generated content may be incorrect.">
            <a:extLst>
              <a:ext uri="{FF2B5EF4-FFF2-40B4-BE49-F238E27FC236}">
                <a16:creationId xmlns:a16="http://schemas.microsoft.com/office/drawing/2014/main" id="{9C481958-5F64-B09A-D856-4962328B89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824" r="12948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30339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08C6A-B6DA-0E46-5F8D-79348CD6A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 dirty="0">
                <a:latin typeface="Georgia" panose="02040502050405020303" pitchFamily="18" charset="0"/>
              </a:rPr>
              <a:t>Training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59936-D9A7-EABD-9D82-8B65D52C7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>
                <a:latin typeface="Georgia" panose="02040502050405020303" pitchFamily="18" charset="0"/>
              </a:rPr>
              <a:t>Split data 80% training, 20% testing</a:t>
            </a:r>
          </a:p>
          <a:p>
            <a:r>
              <a:rPr lang="en-US" sz="2200" dirty="0">
                <a:latin typeface="Georgia" panose="02040502050405020303" pitchFamily="18" charset="0"/>
              </a:rPr>
              <a:t>Adam optimizer</a:t>
            </a:r>
          </a:p>
          <a:p>
            <a:pPr lvl="1"/>
            <a:r>
              <a:rPr lang="en-US" sz="1800" dirty="0">
                <a:latin typeface="Georgia" panose="02040502050405020303" pitchFamily="18" charset="0"/>
              </a:rPr>
              <a:t>Weight decay: 1e-4</a:t>
            </a:r>
          </a:p>
          <a:p>
            <a:r>
              <a:rPr lang="en-US" sz="2200" dirty="0">
                <a:latin typeface="Georgia" panose="02040502050405020303" pitchFamily="18" charset="0"/>
                <a:hlinkClick r:id="rId2"/>
              </a:rPr>
              <a:t>Model</a:t>
            </a:r>
            <a:endParaRPr lang="en-US" sz="2200" dirty="0">
              <a:latin typeface="Georgia" panose="02040502050405020303" pitchFamily="18" charset="0"/>
            </a:endParaRPr>
          </a:p>
          <a:p>
            <a:r>
              <a:rPr lang="en-US" sz="2200" dirty="0">
                <a:latin typeface="Georgia" panose="02040502050405020303" pitchFamily="18" charset="0"/>
              </a:rPr>
              <a:t>35 epochs</a:t>
            </a:r>
          </a:p>
          <a:p>
            <a:r>
              <a:rPr lang="en-US" sz="2200" dirty="0">
                <a:latin typeface="Georgia" panose="02040502050405020303" pitchFamily="18" charset="0"/>
              </a:rPr>
              <a:t>Learning rate 1e-3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607454E-EFEF-58C1-F968-31D30DC4E2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1651293"/>
            <a:ext cx="6903720" cy="3555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692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0550F5B9-399F-4FAD-AE6C-ED65F9A43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C062E60F-5CD4-4268-8359-807663468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288350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7D43B3-B26F-BE87-6104-B677E953B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10047"/>
            <a:ext cx="3300984" cy="1645920"/>
          </a:xfrm>
        </p:spPr>
        <p:txBody>
          <a:bodyPr>
            <a:normAutofit/>
          </a:bodyPr>
          <a:lstStyle/>
          <a:p>
            <a:r>
              <a:rPr lang="en-US" sz="2800">
                <a:latin typeface="Georgia" panose="02040502050405020303" pitchFamily="18" charset="0"/>
              </a:rPr>
              <a:t>Results From Training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B341EC3-1810-4D33-BA3F-E2D0AA0E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980964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127CDE-2B99-47A8-BB3C-7D1751910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10864" y="1323863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53786-13B9-9D60-4BB0-4AC80D987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144" y="510047"/>
            <a:ext cx="6858000" cy="1645920"/>
          </a:xfrm>
        </p:spPr>
        <p:txBody>
          <a:bodyPr anchor="ctr">
            <a:normAutofit/>
          </a:bodyPr>
          <a:lstStyle/>
          <a:p>
            <a:r>
              <a:rPr lang="en-US" sz="1800">
                <a:latin typeface="Georgia" panose="02040502050405020303" pitchFamily="18" charset="0"/>
              </a:rPr>
              <a:t>Final test accuracy: 0.9945</a:t>
            </a:r>
          </a:p>
          <a:p>
            <a:r>
              <a:rPr lang="en-US" sz="1800">
                <a:latin typeface="Georgia" panose="02040502050405020303" pitchFamily="18" charset="0"/>
              </a:rPr>
              <a:t>11 misclassified examples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936444-E3AC-764F-538F-088550777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926128" y="2606462"/>
            <a:ext cx="2847760" cy="36393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8F2D84-DAC0-97B8-FA11-E391E88CD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47599" y="3081950"/>
            <a:ext cx="3584448" cy="26883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E3C896-4DD3-5D4E-B935-8AEB9617D7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137415" y="3081950"/>
            <a:ext cx="3584448" cy="2688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99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EA0691-6A76-AD65-167F-856490AB0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dirty="0">
                <a:latin typeface="Georgia" panose="02040502050405020303" pitchFamily="18" charset="0"/>
              </a:rPr>
              <a:t>Test Results</a:t>
            </a:r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EC6118-98B4-9E47-0485-8684656D85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/>
        </p:blipFill>
        <p:spPr>
          <a:xfrm>
            <a:off x="424132" y="2283014"/>
            <a:ext cx="4956730" cy="3965386"/>
          </a:xfrm>
          <a:prstGeom prst="rect">
            <a:avLst/>
          </a:prstGeom>
        </p:spPr>
      </p:pic>
      <p:pic>
        <p:nvPicPr>
          <p:cNvPr id="13" name="Picture 12" descr="A close-up of numbers&#10;&#10;AI-generated content may be incorrect.">
            <a:extLst>
              <a:ext uri="{FF2B5EF4-FFF2-40B4-BE49-F238E27FC236}">
                <a16:creationId xmlns:a16="http://schemas.microsoft.com/office/drawing/2014/main" id="{FA2C08AE-4476-CE9B-C576-35F20A246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761183"/>
            <a:ext cx="5614416" cy="3368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123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B73A4A-6F6E-707C-1661-9CD26A455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 dirty="0">
                <a:latin typeface="Georgia" panose="02040502050405020303" pitchFamily="18" charset="0"/>
              </a:rPr>
              <a:t>Symbol Predictor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84609-5E79-D3B9-2508-3F8AB56AF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200" dirty="0">
                <a:latin typeface="Georgia" panose="02040502050405020303" pitchFamily="18" charset="0"/>
              </a:rPr>
              <a:t>Works like </a:t>
            </a:r>
            <a:r>
              <a:rPr lang="en-US" sz="2200" dirty="0" err="1">
                <a:latin typeface="Georgia" panose="02040502050405020303" pitchFamily="18" charset="0"/>
              </a:rPr>
              <a:t>digit_predictor.py</a:t>
            </a:r>
            <a:endParaRPr lang="en-US" sz="2200" dirty="0">
              <a:latin typeface="Georgia" panose="02040502050405020303" pitchFamily="18" charset="0"/>
            </a:endParaRPr>
          </a:p>
          <a:p>
            <a:r>
              <a:rPr lang="en-US" sz="2200" dirty="0">
                <a:latin typeface="Georgia" panose="02040502050405020303" pitchFamily="18" charset="0"/>
              </a:rPr>
              <a:t>Outputs prediction and confidence</a:t>
            </a:r>
          </a:p>
        </p:txBody>
      </p:sp>
      <p:pic>
        <p:nvPicPr>
          <p:cNvPr id="8" name="Picture 7" descr="A screenshot of a phone&#10;&#10;AI-generated content may be incorrect.">
            <a:extLst>
              <a:ext uri="{FF2B5EF4-FFF2-40B4-BE49-F238E27FC236}">
                <a16:creationId xmlns:a16="http://schemas.microsoft.com/office/drawing/2014/main" id="{AC67713B-B7F1-CA48-E915-53D51D710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922" y="640080"/>
            <a:ext cx="4727219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614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D75A5B51-0925-4835-8511-A0DD17EAA9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694E94-DFDD-9A1A-52E3-192D96824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65125"/>
            <a:ext cx="5295015" cy="2063808"/>
          </a:xfrm>
        </p:spPr>
        <p:txBody>
          <a:bodyPr anchor="b">
            <a:normAutofit/>
          </a:bodyPr>
          <a:lstStyle/>
          <a:p>
            <a:r>
              <a:rPr lang="en-US" sz="5400" dirty="0">
                <a:latin typeface="Georgia" panose="02040502050405020303" pitchFamily="18" charset="0"/>
              </a:rPr>
              <a:t>Bonus: Math Solver</a:t>
            </a:r>
          </a:p>
        </p:txBody>
      </p:sp>
      <p:sp>
        <p:nvSpPr>
          <p:cNvPr id="31" name="Sketch line">
            <a:extLst>
              <a:ext uri="{FF2B5EF4-FFF2-40B4-BE49-F238E27FC236}">
                <a16:creationId xmlns:a16="http://schemas.microsoft.com/office/drawing/2014/main" id="{5CDFD20D-8E4F-4E3A-AF87-93F23E0D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650181"/>
            <a:ext cx="4343400" cy="18288"/>
          </a:xfrm>
          <a:custGeom>
            <a:avLst/>
            <a:gdLst>
              <a:gd name="csX0" fmla="*/ 0 w 4343400"/>
              <a:gd name="csY0" fmla="*/ 0 h 18288"/>
              <a:gd name="csX1" fmla="*/ 577052 w 4343400"/>
              <a:gd name="csY1" fmla="*/ 0 h 18288"/>
              <a:gd name="csX2" fmla="*/ 1067235 w 4343400"/>
              <a:gd name="csY2" fmla="*/ 0 h 18288"/>
              <a:gd name="csX3" fmla="*/ 1600853 w 4343400"/>
              <a:gd name="csY3" fmla="*/ 0 h 18288"/>
              <a:gd name="csX4" fmla="*/ 2264773 w 4343400"/>
              <a:gd name="csY4" fmla="*/ 0 h 18288"/>
              <a:gd name="csX5" fmla="*/ 2841825 w 4343400"/>
              <a:gd name="csY5" fmla="*/ 0 h 18288"/>
              <a:gd name="csX6" fmla="*/ 3375442 w 4343400"/>
              <a:gd name="csY6" fmla="*/ 0 h 18288"/>
              <a:gd name="csX7" fmla="*/ 4343400 w 4343400"/>
              <a:gd name="csY7" fmla="*/ 0 h 18288"/>
              <a:gd name="csX8" fmla="*/ 4343400 w 4343400"/>
              <a:gd name="csY8" fmla="*/ 18288 h 18288"/>
              <a:gd name="csX9" fmla="*/ 3722914 w 4343400"/>
              <a:gd name="csY9" fmla="*/ 18288 h 18288"/>
              <a:gd name="csX10" fmla="*/ 3189297 w 4343400"/>
              <a:gd name="csY10" fmla="*/ 18288 h 18288"/>
              <a:gd name="csX11" fmla="*/ 2481943 w 4343400"/>
              <a:gd name="csY11" fmla="*/ 18288 h 18288"/>
              <a:gd name="csX12" fmla="*/ 1904891 w 4343400"/>
              <a:gd name="csY12" fmla="*/ 18288 h 18288"/>
              <a:gd name="csX13" fmla="*/ 1414707 w 4343400"/>
              <a:gd name="csY13" fmla="*/ 18288 h 18288"/>
              <a:gd name="csX14" fmla="*/ 750788 w 4343400"/>
              <a:gd name="csY14" fmla="*/ 18288 h 18288"/>
              <a:gd name="csX15" fmla="*/ 0 w 4343400"/>
              <a:gd name="csY15" fmla="*/ 18288 h 18288"/>
              <a:gd name="csX16" fmla="*/ 0 w 43434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9B744-294D-9963-312B-A123BA819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908005"/>
            <a:ext cx="5295015" cy="3268957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Georgia" panose="02040502050405020303" pitchFamily="18" charset="0"/>
              </a:rPr>
              <a:t>Build on symbol predictor</a:t>
            </a:r>
          </a:p>
          <a:p>
            <a:r>
              <a:rPr lang="en-US" sz="2200" dirty="0">
                <a:latin typeface="Georgia" panose="02040502050405020303" pitchFamily="18" charset="0"/>
              </a:rPr>
              <a:t>Have the solver cut statement into blocks and try and solve</a:t>
            </a:r>
          </a:p>
          <a:p>
            <a:r>
              <a:rPr lang="en-US" sz="2200" dirty="0">
                <a:latin typeface="Georgia" panose="02040502050405020303" pitchFamily="18" charset="0"/>
              </a:rPr>
              <a:t>Not always super accurate</a:t>
            </a:r>
          </a:p>
          <a:p>
            <a:r>
              <a:rPr lang="en-US" sz="2200" dirty="0">
                <a:latin typeface="Georgia" panose="02040502050405020303" pitchFamily="18" charset="0"/>
              </a:rPr>
              <a:t>Output:</a:t>
            </a:r>
          </a:p>
          <a:p>
            <a:endParaRPr lang="en-US" sz="2200" dirty="0">
              <a:latin typeface="Georgia" panose="02040502050405020303" pitchFamily="18" charset="0"/>
            </a:endParaRPr>
          </a:p>
        </p:txBody>
      </p:sp>
      <p:pic>
        <p:nvPicPr>
          <p:cNvPr id="7" name="Picture 6" descr="A screenshot of a math equation&#10;&#10;AI-generated content may be incorrect.">
            <a:extLst>
              <a:ext uri="{FF2B5EF4-FFF2-40B4-BE49-F238E27FC236}">
                <a16:creationId xmlns:a16="http://schemas.microsoft.com/office/drawing/2014/main" id="{2EC2A2EB-9ED0-75BA-0A5D-4E1B596DA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557" y="3544445"/>
            <a:ext cx="3321795" cy="2333560"/>
          </a:xfrm>
          <a:prstGeom prst="rect">
            <a:avLst/>
          </a:prstGeom>
        </p:spPr>
      </p:pic>
      <p:pic>
        <p:nvPicPr>
          <p:cNvPr id="5" name="Picture 4" descr="A screenshot of a math expression&#10;&#10;AI-generated content may be incorrect.">
            <a:extLst>
              <a:ext uri="{FF2B5EF4-FFF2-40B4-BE49-F238E27FC236}">
                <a16:creationId xmlns:a16="http://schemas.microsoft.com/office/drawing/2014/main" id="{F7DF4CE4-6AF9-9C04-1576-C3997BC4A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339" y="807083"/>
            <a:ext cx="3216253" cy="2251375"/>
          </a:xfrm>
          <a:prstGeom prst="rect">
            <a:avLst/>
          </a:prstGeom>
        </p:spPr>
      </p:pic>
      <p:pic>
        <p:nvPicPr>
          <p:cNvPr id="9" name="Picture 8" descr="A number and math symbols&#10;&#10;AI-generated content may be incorrect.">
            <a:extLst>
              <a:ext uri="{FF2B5EF4-FFF2-40B4-BE49-F238E27FC236}">
                <a16:creationId xmlns:a16="http://schemas.microsoft.com/office/drawing/2014/main" id="{7C4C5D7D-965A-9C86-C0D0-0384DAAAC7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592"/>
          <a:stretch>
            <a:fillRect/>
          </a:stretch>
        </p:blipFill>
        <p:spPr>
          <a:xfrm>
            <a:off x="1944318" y="4601979"/>
            <a:ext cx="3963345" cy="1165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071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3B3B4A-003F-6C42-83D6-CA01B7EFF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>
                <a:latin typeface="Georgia" panose="02040502050405020303" pitchFamily="18" charset="0"/>
              </a:rPr>
              <a:t>References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884FC-02E5-EC2A-16DF-3C742C14A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dirty="0"/>
              <a:t>[</a:t>
            </a:r>
            <a:r>
              <a:rPr lang="en-US" dirty="0" err="1"/>
              <a:t>Kag</a:t>
            </a:r>
            <a:r>
              <a:rPr lang="en-US" dirty="0"/>
              <a:t>, ] Handwritten Math Symbols. https://</a:t>
            </a:r>
            <a:r>
              <a:rPr lang="en-US" dirty="0" err="1"/>
              <a:t>www.kaggle.com</a:t>
            </a:r>
            <a:r>
              <a:rPr lang="en-US" dirty="0"/>
              <a:t>/datasets/</a:t>
            </a:r>
            <a:r>
              <a:rPr lang="en-US" dirty="0" err="1"/>
              <a:t>sagyamthapa</a:t>
            </a:r>
            <a:r>
              <a:rPr lang="en-US" dirty="0"/>
              <a:t>/handwritten-math-symbols/data. [Accessed 12-1-2025].</a:t>
            </a:r>
          </a:p>
          <a:p>
            <a:r>
              <a:rPr lang="en-US" dirty="0"/>
              <a:t>[ONN, ] Load and Run an ONNX Model. https://</a:t>
            </a:r>
            <a:r>
              <a:rPr lang="en-US" dirty="0" err="1"/>
              <a:t>onnx.ai</a:t>
            </a:r>
            <a:r>
              <a:rPr lang="en-US" dirty="0"/>
              <a:t>/</a:t>
            </a:r>
            <a:r>
              <a:rPr lang="en-US" dirty="0" err="1"/>
              <a:t>onnx</a:t>
            </a:r>
            <a:r>
              <a:rPr lang="en-US" dirty="0"/>
              <a:t>-r/articles/</a:t>
            </a:r>
            <a:r>
              <a:rPr lang="en-US" dirty="0" err="1"/>
              <a:t>onnx_model_zoo.html</a:t>
            </a:r>
            <a:r>
              <a:rPr lang="en-US" dirty="0"/>
              <a:t>. [Accessed 12-1-2025].</a:t>
            </a:r>
          </a:p>
          <a:p>
            <a:r>
              <a:rPr lang="en-US" dirty="0"/>
              <a:t>[Esra Soylu, ] Esra Soylu. Creating a CNN Model for Image Classification with TensorFlow. </a:t>
            </a:r>
            <a:r>
              <a:rPr lang="en-US" dirty="0">
                <a:hlinkClick r:id="rId2"/>
              </a:rPr>
              <a:t>https://medium.com/@esrasoylu/creating-a-cnn-model-for-image-classification-with-tensorflow-49b84be8c12</a:t>
            </a:r>
            <a:r>
              <a:rPr lang="en-US" dirty="0"/>
              <a:t> [Accessed 12-1-2025].</a:t>
            </a:r>
          </a:p>
          <a:p>
            <a:pPr marL="0" indent="0">
              <a:buNone/>
            </a:pPr>
            <a:endParaRPr lang="en-US" sz="2200" dirty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590485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588</TotalTime>
  <Words>203</Words>
  <Application>Microsoft Macintosh PowerPoint</Application>
  <PresentationFormat>Widescreen</PresentationFormat>
  <Paragraphs>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Georgia</vt:lpstr>
      <vt:lpstr>Office Theme</vt:lpstr>
      <vt:lpstr>Predicting Handwritten Math Symbols</vt:lpstr>
      <vt:lpstr>Dataset</vt:lpstr>
      <vt:lpstr>Training</vt:lpstr>
      <vt:lpstr>Results From Training</vt:lpstr>
      <vt:lpstr>Test Results</vt:lpstr>
      <vt:lpstr>Symbol Predictor</vt:lpstr>
      <vt:lpstr>Bonus: Math Solver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Tiffany Boswell (THBOSW7373)</dc:creator>
  <cp:lastModifiedBy>Tiffany Boswell (THBOSW7373)</cp:lastModifiedBy>
  <cp:revision>5</cp:revision>
  <dcterms:created xsi:type="dcterms:W3CDTF">2025-12-02T03:23:21Z</dcterms:created>
  <dcterms:modified xsi:type="dcterms:W3CDTF">2025-12-04T00:05:27Z</dcterms:modified>
</cp:coreProperties>
</file>